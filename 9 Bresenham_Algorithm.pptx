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63" r:id="rId11"/>
    <p:sldId id="264" r:id="rId12"/>
    <p:sldId id="269" r:id="rId13"/>
    <p:sldId id="267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Bresenham’s Line Drawing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HCI And </a:t>
            </a:r>
            <a:r>
              <a:rPr dirty="0" smtClean="0"/>
              <a:t>Computer Graphics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Bresenham’s</a:t>
            </a:r>
            <a:r>
              <a:rPr lang="en-US" dirty="0" smtClean="0"/>
              <a:t> </a:t>
            </a:r>
            <a:r>
              <a:rPr lang="en-US" dirty="0"/>
              <a:t>algorithm is an incremental line drawing </a:t>
            </a:r>
            <a:r>
              <a:rPr lang="en-US" dirty="0" smtClean="0"/>
              <a:t>algorithm</a:t>
            </a:r>
          </a:p>
          <a:p>
            <a:r>
              <a:rPr lang="en-US" dirty="0" smtClean="0"/>
              <a:t>Uses </a:t>
            </a:r>
            <a:r>
              <a:rPr lang="en-US" dirty="0"/>
              <a:t>only integer </a:t>
            </a:r>
            <a:r>
              <a:rPr lang="en-US" dirty="0" smtClean="0"/>
              <a:t>calculations</a:t>
            </a:r>
          </a:p>
          <a:p>
            <a:r>
              <a:rPr lang="en-US" dirty="0" smtClean="0"/>
              <a:t>More </a:t>
            </a:r>
            <a:r>
              <a:rPr lang="en-US" dirty="0"/>
              <a:t>efficient than DDA </a:t>
            </a:r>
            <a:r>
              <a:rPr lang="en-US" dirty="0" smtClean="0"/>
              <a:t>algorithm</a:t>
            </a:r>
          </a:p>
          <a:p>
            <a:r>
              <a:rPr lang="en-US" dirty="0" smtClean="0"/>
              <a:t>Selects </a:t>
            </a:r>
            <a:r>
              <a:rPr lang="en-US" dirty="0"/>
              <a:t>the nearest pixel to the actual line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Concept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308635"/>
            <a:ext cx="815960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along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x-axis in unit steps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each step, choose between: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(x+1, 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(x+1, y+1)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the pixel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closer to the actual line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Decision Parameter</a:t>
            </a:r>
          </a:p>
          <a:p>
            <a:r>
              <a:rPr lang="en-US" dirty="0"/>
              <a:t>Decision parameter: </a:t>
            </a:r>
            <a:r>
              <a:rPr lang="en-US" b="1" dirty="0" err="1"/>
              <a:t>Pk</a:t>
            </a:r>
            <a:r>
              <a:rPr lang="en-US" dirty="0"/>
              <a:t> </a:t>
            </a:r>
          </a:p>
          <a:p>
            <a:r>
              <a:rPr lang="en-US" dirty="0"/>
              <a:t>Helps decide which pixel to choose 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HINT: </a:t>
            </a:r>
            <a:r>
              <a:rPr sz="1600" dirty="0" err="1" smtClean="0">
                <a:solidFill>
                  <a:schemeClr val="accent6">
                    <a:lumMod val="75000"/>
                  </a:schemeClr>
                </a:solidFill>
              </a:rPr>
              <a:t>Pk</a:t>
            </a:r>
            <a:r>
              <a:rPr sz="16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1600" dirty="0">
                <a:solidFill>
                  <a:schemeClr val="accent6">
                    <a:lumMod val="75000"/>
                  </a:schemeClr>
                </a:solidFill>
              </a:rPr>
              <a:t>&lt; 0 →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just increment x  </a:t>
            </a:r>
            <a:r>
              <a:rPr sz="1600" dirty="0" err="1" smtClean="0">
                <a:solidFill>
                  <a:schemeClr val="accent6">
                    <a:lumMod val="75000"/>
                  </a:schemeClr>
                </a:solidFill>
              </a:rPr>
              <a:t>Pk</a:t>
            </a:r>
            <a:r>
              <a:rPr sz="16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1600" dirty="0">
                <a:solidFill>
                  <a:schemeClr val="accent6">
                    <a:lumMod val="75000"/>
                  </a:schemeClr>
                </a:solidFill>
              </a:rPr>
              <a:t>≥ 0 →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increment both x and y</a:t>
            </a:r>
          </a:p>
          <a:p>
            <a:r>
              <a:rPr lang="en-US" dirty="0">
                <a:solidFill>
                  <a:srgbClr val="FF0000"/>
                </a:solidFill>
              </a:rPr>
              <a:t>If </a:t>
            </a:r>
            <a:r>
              <a:rPr lang="en-US" dirty="0" err="1">
                <a:solidFill>
                  <a:srgbClr val="FF0000"/>
                </a:solidFill>
              </a:rPr>
              <a:t>Pk</a:t>
            </a:r>
            <a:r>
              <a:rPr lang="en-US" dirty="0">
                <a:solidFill>
                  <a:srgbClr val="FF0000"/>
                </a:solidFill>
              </a:rPr>
              <a:t> &lt;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→ </a:t>
            </a:r>
            <a:r>
              <a:rPr lang="en-US" dirty="0">
                <a:solidFill>
                  <a:srgbClr val="FF0000"/>
                </a:solidFill>
              </a:rPr>
              <a:t>Choose (xk+1, </a:t>
            </a:r>
            <a:r>
              <a:rPr lang="en-US" dirty="0" err="1">
                <a:solidFill>
                  <a:srgbClr val="FF0000"/>
                </a:solidFill>
              </a:rPr>
              <a:t>yk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→ </a:t>
            </a:r>
            <a:r>
              <a:rPr lang="en-US" dirty="0">
                <a:solidFill>
                  <a:srgbClr val="FF0000"/>
                </a:solidFill>
              </a:rPr>
              <a:t>Pk+1 = </a:t>
            </a:r>
            <a:r>
              <a:rPr lang="en-US" dirty="0" err="1">
                <a:solidFill>
                  <a:srgbClr val="FF0000"/>
                </a:solidFill>
              </a:rPr>
              <a:t>Pk</a:t>
            </a:r>
            <a:r>
              <a:rPr lang="en-US" dirty="0">
                <a:solidFill>
                  <a:srgbClr val="FF0000"/>
                </a:solidFill>
              </a:rPr>
              <a:t> + </a:t>
            </a:r>
            <a:r>
              <a:rPr lang="en-US" dirty="0" smtClean="0">
                <a:solidFill>
                  <a:srgbClr val="FF0000"/>
                </a:solidFill>
              </a:rPr>
              <a:t>2dy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If </a:t>
            </a:r>
            <a:r>
              <a:rPr lang="en-US" dirty="0" err="1">
                <a:solidFill>
                  <a:srgbClr val="0070C0"/>
                </a:solidFill>
              </a:rPr>
              <a:t>Pk</a:t>
            </a:r>
            <a:r>
              <a:rPr lang="en-US" dirty="0">
                <a:solidFill>
                  <a:srgbClr val="0070C0"/>
                </a:solidFill>
              </a:rPr>
              <a:t> ≥ </a:t>
            </a:r>
            <a:r>
              <a:rPr lang="en-US" dirty="0" smtClean="0">
                <a:solidFill>
                  <a:srgbClr val="0070C0"/>
                </a:solidFill>
              </a:rPr>
              <a:t>0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→ </a:t>
            </a:r>
            <a:r>
              <a:rPr lang="en-US" dirty="0">
                <a:solidFill>
                  <a:srgbClr val="0070C0"/>
                </a:solidFill>
              </a:rPr>
              <a:t>Choose (xk+1, yk+1</a:t>
            </a:r>
            <a:r>
              <a:rPr lang="en-US" dirty="0" smtClean="0">
                <a:solidFill>
                  <a:srgbClr val="0070C0"/>
                </a:solidFill>
              </a:rPr>
              <a:t>)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→ </a:t>
            </a:r>
            <a:r>
              <a:rPr lang="en-US" dirty="0">
                <a:solidFill>
                  <a:srgbClr val="0070C0"/>
                </a:solidFill>
              </a:rPr>
              <a:t>Pk+1 = </a:t>
            </a:r>
            <a:r>
              <a:rPr lang="en-US" dirty="0" err="1">
                <a:solidFill>
                  <a:srgbClr val="0070C0"/>
                </a:solidFill>
              </a:rPr>
              <a:t>Pk</a:t>
            </a:r>
            <a:r>
              <a:rPr lang="en-US" dirty="0">
                <a:solidFill>
                  <a:srgbClr val="0070C0"/>
                </a:solidFill>
              </a:rPr>
              <a:t> + 2dy − 2dx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Steps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8569"/>
            <a:ext cx="5250873" cy="5236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83309" y="957150"/>
            <a:ext cx="697659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integer arithmetic only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than floating-point algorithms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for raster displays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from (2, 5) to (10, 8)</a:t>
            </a:r>
          </a:p>
          <a:p>
            <a:r>
              <a:rPr lang="en-US" dirty="0" err="1"/>
              <a:t>dy</a:t>
            </a:r>
            <a:r>
              <a:rPr lang="en-US" dirty="0"/>
              <a:t> = 8 – 5 = 3</a:t>
            </a:r>
          </a:p>
          <a:p>
            <a:r>
              <a:rPr lang="en-US" dirty="0"/>
              <a:t>dx = 10 – 2 = 8 </a:t>
            </a:r>
          </a:p>
          <a:p>
            <a:r>
              <a:rPr lang="en-US" dirty="0"/>
              <a:t>2dy = 6</a:t>
            </a:r>
          </a:p>
          <a:p>
            <a:r>
              <a:rPr lang="en-US" dirty="0"/>
              <a:t>2dx = 16</a:t>
            </a:r>
          </a:p>
          <a:p>
            <a:r>
              <a:rPr lang="en-US" dirty="0"/>
              <a:t>2dy - 2dx = -10</a:t>
            </a:r>
          </a:p>
          <a:p>
            <a:r>
              <a:rPr lang="en-US" dirty="0"/>
              <a:t>Po = 2dy – dx = -2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47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sz="2800" dirty="0"/>
              <a:t>dy = </a:t>
            </a:r>
            <a:r>
              <a:rPr lang="pl-PL" sz="2800" dirty="0" smtClean="0"/>
              <a:t>3</a:t>
            </a:r>
            <a:r>
              <a:rPr lang="en-US" sz="2800" dirty="0" smtClean="0"/>
              <a:t>		</a:t>
            </a:r>
            <a:r>
              <a:rPr lang="pl-PL" sz="2800" dirty="0" smtClean="0"/>
              <a:t>dx = 8 </a:t>
            </a:r>
            <a:r>
              <a:rPr lang="en-US" sz="2800" dirty="0"/>
              <a:t> </a:t>
            </a:r>
            <a:r>
              <a:rPr lang="en-US" sz="2800" dirty="0" smtClean="0"/>
              <a:t>	   </a:t>
            </a:r>
            <a:r>
              <a:rPr lang="pl-PL" sz="2800" dirty="0" smtClean="0"/>
              <a:t>2dy </a:t>
            </a:r>
            <a:r>
              <a:rPr lang="pl-PL" sz="2800" dirty="0"/>
              <a:t>= </a:t>
            </a:r>
            <a:r>
              <a:rPr lang="en-US" sz="2800" dirty="0" smtClean="0"/>
              <a:t>6		 </a:t>
            </a:r>
            <a:r>
              <a:rPr lang="pl-PL" sz="2800" dirty="0" smtClean="0"/>
              <a:t>2dx </a:t>
            </a:r>
            <a:r>
              <a:rPr lang="pl-PL" sz="2800" dirty="0"/>
              <a:t>= </a:t>
            </a:r>
            <a:r>
              <a:rPr lang="pl-PL" sz="2800" dirty="0" smtClean="0"/>
              <a:t>16</a:t>
            </a:r>
            <a:r>
              <a:rPr lang="en-US" sz="2800" dirty="0" smtClean="0"/>
              <a:t>		 </a:t>
            </a:r>
            <a:r>
              <a:rPr lang="pl-PL" sz="2800" dirty="0" smtClean="0"/>
              <a:t>Po </a:t>
            </a:r>
            <a:r>
              <a:rPr lang="pl-PL" sz="2800" dirty="0"/>
              <a:t>= </a:t>
            </a:r>
            <a:r>
              <a:rPr lang="pl-PL" sz="2800" dirty="0" smtClean="0"/>
              <a:t>-</a:t>
            </a:r>
            <a:r>
              <a:rPr lang="pl-PL" sz="2800" dirty="0"/>
              <a:t>2</a:t>
            </a:r>
            <a:br>
              <a:rPr lang="pl-PL" sz="2800" dirty="0"/>
            </a:b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94184"/>
              </p:ext>
            </p:extLst>
          </p:nvPr>
        </p:nvGraphicFramePr>
        <p:xfrm>
          <a:off x="457200" y="1573951"/>
          <a:ext cx="8229600" cy="49007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5491">
                  <a:extLst>
                    <a:ext uri="{9D8B030D-6E8A-4147-A177-3AD203B41FA5}">
                      <a16:colId xmlns:a16="http://schemas.microsoft.com/office/drawing/2014/main" val="3081352800"/>
                    </a:ext>
                  </a:extLst>
                </a:gridCol>
                <a:gridCol w="1126836">
                  <a:extLst>
                    <a:ext uri="{9D8B030D-6E8A-4147-A177-3AD203B41FA5}">
                      <a16:colId xmlns:a16="http://schemas.microsoft.com/office/drawing/2014/main" val="1756645843"/>
                    </a:ext>
                  </a:extLst>
                </a:gridCol>
                <a:gridCol w="1145309">
                  <a:extLst>
                    <a:ext uri="{9D8B030D-6E8A-4147-A177-3AD203B41FA5}">
                      <a16:colId xmlns:a16="http://schemas.microsoft.com/office/drawing/2014/main" val="516166751"/>
                    </a:ext>
                  </a:extLst>
                </a:gridCol>
                <a:gridCol w="4511964">
                  <a:extLst>
                    <a:ext uri="{9D8B030D-6E8A-4147-A177-3AD203B41FA5}">
                      <a16:colId xmlns:a16="http://schemas.microsoft.com/office/drawing/2014/main" val="1525241372"/>
                    </a:ext>
                  </a:extLst>
                </a:gridCol>
              </a:tblGrid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K (STEP)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X</a:t>
                      </a:r>
                      <a:r>
                        <a:rPr lang="en-US" sz="2000" baseline="-25000">
                          <a:effectLst/>
                        </a:rPr>
                        <a:t>K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y</a:t>
                      </a:r>
                      <a:r>
                        <a:rPr lang="en-US" sz="2000" baseline="-25000">
                          <a:effectLst/>
                        </a:rPr>
                        <a:t>K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P</a:t>
                      </a:r>
                      <a:r>
                        <a:rPr lang="en-US" sz="2000" baseline="-25000">
                          <a:effectLst/>
                        </a:rPr>
                        <a:t>k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076846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-2 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Pk</a:t>
                      </a:r>
                      <a:r>
                        <a:rPr lang="en-US" sz="2000" dirty="0">
                          <a:effectLst/>
                        </a:rPr>
                        <a:t> + 2dy) 6 – 2 = 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8462229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r>
                        <a:rPr lang="en-US" sz="2000" dirty="0">
                          <a:effectLst/>
                        </a:rPr>
                        <a:t> (</a:t>
                      </a:r>
                      <a:r>
                        <a:rPr lang="en-US" sz="2000" dirty="0" err="1">
                          <a:effectLst/>
                        </a:rPr>
                        <a:t>Pk</a:t>
                      </a:r>
                      <a:r>
                        <a:rPr lang="en-US" sz="2000" dirty="0">
                          <a:effectLst/>
                        </a:rPr>
                        <a:t> +2dy -2dx) = -6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8486903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-6 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Pk</a:t>
                      </a:r>
                      <a:r>
                        <a:rPr lang="en-US" sz="2000" dirty="0">
                          <a:effectLst/>
                        </a:rPr>
                        <a:t> + 2dy) = 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2003196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en-US" sz="2000" dirty="0">
                          <a:effectLst/>
                        </a:rPr>
                        <a:t> (0 - 10) = -10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8349189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-10 </a:t>
                      </a:r>
                      <a:r>
                        <a:rPr lang="en-US" sz="2000" dirty="0">
                          <a:effectLst/>
                        </a:rPr>
                        <a:t>(-10 + 6) = -4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2314812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-4</a:t>
                      </a:r>
                      <a:r>
                        <a:rPr lang="en-US" sz="2000" dirty="0">
                          <a:effectLst/>
                        </a:rPr>
                        <a:t> (-4 + 6) = 2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5968959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en-US" sz="2000" dirty="0">
                          <a:effectLst/>
                        </a:rPr>
                        <a:t> (2  - 10) = -8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4801167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9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</a:rPr>
                        <a:t>-8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6568443"/>
                  </a:ext>
                </a:extLst>
              </a:tr>
              <a:tr h="4900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32840" algn="l"/>
                        </a:tabLs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5380519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 flipH="1">
            <a:off x="4396509" y="868218"/>
            <a:ext cx="3583709" cy="12007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ounded Rectangular Callout 12"/>
          <p:cNvSpPr/>
          <p:nvPr/>
        </p:nvSpPr>
        <p:spPr>
          <a:xfrm>
            <a:off x="6271490" y="422563"/>
            <a:ext cx="2521527" cy="1588655"/>
          </a:xfrm>
          <a:prstGeom prst="wedgeRoundRectCallout">
            <a:avLst/>
          </a:prstGeom>
          <a:solidFill>
            <a:srgbClr val="FFFF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If </a:t>
            </a:r>
            <a:r>
              <a:rPr lang="en-US" dirty="0" err="1">
                <a:solidFill>
                  <a:srgbClr val="FF0000"/>
                </a:solidFill>
              </a:rPr>
              <a:t>Pk</a:t>
            </a:r>
            <a:r>
              <a:rPr lang="en-US" dirty="0">
                <a:solidFill>
                  <a:srgbClr val="FF0000"/>
                </a:solidFill>
              </a:rPr>
              <a:t> &lt; 0</a:t>
            </a:r>
          </a:p>
          <a:p>
            <a:r>
              <a:rPr lang="en-US" dirty="0">
                <a:solidFill>
                  <a:srgbClr val="FF0000"/>
                </a:solidFill>
              </a:rPr>
              <a:t>→ Pk+1 = </a:t>
            </a:r>
            <a:r>
              <a:rPr lang="en-US" dirty="0" err="1">
                <a:solidFill>
                  <a:srgbClr val="FF0000"/>
                </a:solidFill>
              </a:rPr>
              <a:t>Pk</a:t>
            </a:r>
            <a:r>
              <a:rPr lang="en-US" dirty="0">
                <a:solidFill>
                  <a:srgbClr val="FF0000"/>
                </a:solidFill>
              </a:rPr>
              <a:t> + 2dy</a:t>
            </a:r>
          </a:p>
          <a:p>
            <a:r>
              <a:rPr lang="en-US" dirty="0">
                <a:solidFill>
                  <a:srgbClr val="0070C0"/>
                </a:solidFill>
              </a:rPr>
              <a:t>If </a:t>
            </a:r>
            <a:r>
              <a:rPr lang="en-US" dirty="0" err="1">
                <a:solidFill>
                  <a:srgbClr val="0070C0"/>
                </a:solidFill>
              </a:rPr>
              <a:t>Pk</a:t>
            </a:r>
            <a:r>
              <a:rPr lang="en-US" dirty="0">
                <a:solidFill>
                  <a:srgbClr val="0070C0"/>
                </a:solidFill>
              </a:rPr>
              <a:t> ≥ 0</a:t>
            </a:r>
          </a:p>
          <a:p>
            <a:r>
              <a:rPr lang="en-US" dirty="0">
                <a:solidFill>
                  <a:srgbClr val="0070C0"/>
                </a:solidFill>
              </a:rPr>
              <a:t>→ Pk+1 = </a:t>
            </a:r>
            <a:r>
              <a:rPr lang="en-US" dirty="0" err="1">
                <a:solidFill>
                  <a:srgbClr val="0070C0"/>
                </a:solidFill>
              </a:rPr>
              <a:t>Pk</a:t>
            </a:r>
            <a:r>
              <a:rPr lang="en-US" dirty="0">
                <a:solidFill>
                  <a:srgbClr val="0070C0"/>
                </a:solidFill>
              </a:rPr>
              <a:t> + 2dy − 2dx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507345" y="2290618"/>
            <a:ext cx="1764146" cy="48029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00" y="6446338"/>
            <a:ext cx="899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HINT: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&lt; 0 → just increment x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≥ 0 → increment both x and 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7345" y="2890982"/>
            <a:ext cx="2105891" cy="9236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4655" y="2983345"/>
            <a:ext cx="8940800" cy="3703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839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</a:t>
            </a:r>
            <a:r>
              <a:rPr lang="en-US" dirty="0" smtClean="0"/>
              <a:t>2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Line from (20,10) to (30,18)</a:t>
            </a:r>
          </a:p>
          <a:p>
            <a:r>
              <a:rPr lang="en-US" dirty="0"/>
              <a:t>Calculated values:</a:t>
            </a:r>
          </a:p>
          <a:p>
            <a:pPr lvl="0"/>
            <a:r>
              <a:rPr lang="en-US" b="1" dirty="0" err="1"/>
              <a:t>dy</a:t>
            </a:r>
            <a:r>
              <a:rPr lang="en-US" dirty="0"/>
              <a:t> = 18 – 10 =8</a:t>
            </a:r>
          </a:p>
          <a:p>
            <a:pPr lvl="0"/>
            <a:r>
              <a:rPr lang="en-US" b="1" dirty="0"/>
              <a:t>dx</a:t>
            </a:r>
            <a:r>
              <a:rPr lang="en-US" dirty="0"/>
              <a:t> = 30 – 20 = 10</a:t>
            </a:r>
          </a:p>
          <a:p>
            <a:pPr lvl="0"/>
            <a:r>
              <a:rPr lang="en-US" b="1" dirty="0"/>
              <a:t>2dy</a:t>
            </a:r>
            <a:r>
              <a:rPr lang="en-US" dirty="0"/>
              <a:t> = 2 x 8 = 16</a:t>
            </a:r>
          </a:p>
          <a:p>
            <a:pPr lvl="0"/>
            <a:r>
              <a:rPr lang="en-US" b="1" dirty="0"/>
              <a:t>2dx</a:t>
            </a:r>
            <a:r>
              <a:rPr lang="en-US" dirty="0"/>
              <a:t> = 2 x 10 = 20</a:t>
            </a:r>
          </a:p>
          <a:p>
            <a:pPr lvl="0"/>
            <a:r>
              <a:rPr lang="en-US" b="1" dirty="0"/>
              <a:t>2dy – 2dx</a:t>
            </a:r>
            <a:r>
              <a:rPr lang="en-US" dirty="0"/>
              <a:t> = 16 – 20 = -4</a:t>
            </a:r>
          </a:p>
          <a:p>
            <a:pPr lvl="0"/>
            <a:r>
              <a:rPr lang="en-US" b="1" dirty="0"/>
              <a:t>2dy – dx</a:t>
            </a:r>
            <a:r>
              <a:rPr lang="en-US" dirty="0"/>
              <a:t> = </a:t>
            </a:r>
            <a:r>
              <a:rPr lang="en-US" b="1" dirty="0"/>
              <a:t>P</a:t>
            </a:r>
            <a:r>
              <a:rPr lang="en-US" b="1" baseline="-25000" dirty="0"/>
              <a:t>0</a:t>
            </a:r>
            <a:r>
              <a:rPr lang="en-US" b="1" dirty="0"/>
              <a:t> </a:t>
            </a:r>
            <a:r>
              <a:rPr lang="en-US" dirty="0"/>
              <a:t>= 16 – 10 = 6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Concept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317671"/>
            <a:ext cx="82526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P₀ = 6 → positive → (21,11)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P₁ = 2 → positive → (22,12)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P₂ = -2 → negative → (23,12)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until endpoint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46438"/>
              </p:ext>
            </p:extLst>
          </p:nvPr>
        </p:nvGraphicFramePr>
        <p:xfrm>
          <a:off x="331701" y="2601301"/>
          <a:ext cx="8581391" cy="4159716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288905">
                  <a:extLst>
                    <a:ext uri="{9D8B030D-6E8A-4147-A177-3AD203B41FA5}">
                      <a16:colId xmlns:a16="http://schemas.microsoft.com/office/drawing/2014/main" val="1378593022"/>
                    </a:ext>
                  </a:extLst>
                </a:gridCol>
                <a:gridCol w="2883076">
                  <a:extLst>
                    <a:ext uri="{9D8B030D-6E8A-4147-A177-3AD203B41FA5}">
                      <a16:colId xmlns:a16="http://schemas.microsoft.com/office/drawing/2014/main" val="3109406758"/>
                    </a:ext>
                  </a:extLst>
                </a:gridCol>
                <a:gridCol w="2204705">
                  <a:extLst>
                    <a:ext uri="{9D8B030D-6E8A-4147-A177-3AD203B41FA5}">
                      <a16:colId xmlns:a16="http://schemas.microsoft.com/office/drawing/2014/main" val="679992799"/>
                    </a:ext>
                  </a:extLst>
                </a:gridCol>
                <a:gridCol w="2204705">
                  <a:extLst>
                    <a:ext uri="{9D8B030D-6E8A-4147-A177-3AD203B41FA5}">
                      <a16:colId xmlns:a16="http://schemas.microsoft.com/office/drawing/2014/main" val="1627506218"/>
                    </a:ext>
                  </a:extLst>
                </a:gridCol>
              </a:tblGrid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Sr no (k)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X</a:t>
                      </a:r>
                      <a:r>
                        <a:rPr lang="en-US" sz="1800" baseline="-25000" dirty="0" err="1">
                          <a:effectLst/>
                        </a:rPr>
                        <a:t>k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</a:t>
                      </a:r>
                      <a:r>
                        <a:rPr lang="en-US" sz="1800" baseline="-25000">
                          <a:effectLst/>
                        </a:rPr>
                        <a:t>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8004981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583719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984542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0488134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8989970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9529048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408625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5676353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1841233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6754871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297726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106670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711200" y="1560945"/>
            <a:ext cx="6890327" cy="1542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Concept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317671"/>
            <a:ext cx="82526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P₀ = 6 → positive → (21,11)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P₁ = 2 → positive → (22,12)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P₂ = -2 → negative → (23,12)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until endpoint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1701" y="2601301"/>
          <a:ext cx="8581391" cy="4159716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288905">
                  <a:extLst>
                    <a:ext uri="{9D8B030D-6E8A-4147-A177-3AD203B41FA5}">
                      <a16:colId xmlns:a16="http://schemas.microsoft.com/office/drawing/2014/main" val="1378593022"/>
                    </a:ext>
                  </a:extLst>
                </a:gridCol>
                <a:gridCol w="2883076">
                  <a:extLst>
                    <a:ext uri="{9D8B030D-6E8A-4147-A177-3AD203B41FA5}">
                      <a16:colId xmlns:a16="http://schemas.microsoft.com/office/drawing/2014/main" val="3109406758"/>
                    </a:ext>
                  </a:extLst>
                </a:gridCol>
                <a:gridCol w="2204705">
                  <a:extLst>
                    <a:ext uri="{9D8B030D-6E8A-4147-A177-3AD203B41FA5}">
                      <a16:colId xmlns:a16="http://schemas.microsoft.com/office/drawing/2014/main" val="679992799"/>
                    </a:ext>
                  </a:extLst>
                </a:gridCol>
                <a:gridCol w="2204705">
                  <a:extLst>
                    <a:ext uri="{9D8B030D-6E8A-4147-A177-3AD203B41FA5}">
                      <a16:colId xmlns:a16="http://schemas.microsoft.com/office/drawing/2014/main" val="1627506218"/>
                    </a:ext>
                  </a:extLst>
                </a:gridCol>
              </a:tblGrid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Sr no (k)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X</a:t>
                      </a:r>
                      <a:r>
                        <a:rPr lang="en-US" sz="1800" baseline="-25000" dirty="0" err="1">
                          <a:effectLst/>
                        </a:rPr>
                        <a:t>k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Y</a:t>
                      </a:r>
                      <a:r>
                        <a:rPr lang="en-US" sz="1800" baseline="-25000">
                          <a:effectLst/>
                        </a:rPr>
                        <a:t>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</a:t>
                      </a:r>
                      <a:r>
                        <a:rPr lang="en-US" sz="1800" baseline="-25000">
                          <a:effectLst/>
                        </a:rPr>
                        <a:t>k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8004981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583719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984542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0488134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8989970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9529048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408625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5676353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1841233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6754871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297726"/>
                  </a:ext>
                </a:extLst>
              </a:tr>
              <a:tr h="3466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10667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-129309" y="3149600"/>
            <a:ext cx="16348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22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a line from:</a:t>
            </a:r>
            <a:br>
              <a:rPr lang="en-US" dirty="0"/>
            </a:br>
            <a:r>
              <a:rPr lang="en-US" b="1" dirty="0"/>
              <a:t>(2, 2) → (5, 10)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946705"/>
              </p:ext>
            </p:extLst>
          </p:nvPr>
        </p:nvGraphicFramePr>
        <p:xfrm>
          <a:off x="457200" y="2217261"/>
          <a:ext cx="82296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08556887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8416733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33210896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8955102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10681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Next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988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(2,3)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700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(3,4)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1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(3,5)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008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(4,6)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723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(4,7)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4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(4,8)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205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(5,9)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172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(5,10)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47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65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663</Words>
  <Application>Microsoft Office PowerPoint</Application>
  <PresentationFormat>On-screen Show (4:3)</PresentationFormat>
  <Paragraphs>247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Bresenham’s Line Drawing Algorithm</vt:lpstr>
      <vt:lpstr>Introduction</vt:lpstr>
      <vt:lpstr>Basic Concept</vt:lpstr>
      <vt:lpstr>Decision Parameter</vt:lpstr>
      <vt:lpstr>Decision Rules</vt:lpstr>
      <vt:lpstr>Algorithm Steps</vt:lpstr>
      <vt:lpstr>Advantages</vt:lpstr>
      <vt:lpstr>Example 1</vt:lpstr>
      <vt:lpstr>dy = 3  dx = 8      2dy = 6   2dx = 16   Po = -2 </vt:lpstr>
      <vt:lpstr>Example 2</vt:lpstr>
      <vt:lpstr>Iteration Concept</vt:lpstr>
      <vt:lpstr>Iteration Concept</vt:lpstr>
      <vt:lpstr>Assignment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Bresenham’s Line Drawing Algorithm</dc:title>
  <dc:subject/>
  <dc:creator/>
  <cp:keywords/>
  <dc:description>generated using python-pptx</dc:description>
  <cp:lastModifiedBy>Sabina</cp:lastModifiedBy>
  <cp:revision>27</cp:revision>
  <dcterms:created xsi:type="dcterms:W3CDTF">2013-01-27T09:14:16Z</dcterms:created>
  <dcterms:modified xsi:type="dcterms:W3CDTF">2026-03-25T07:43:11Z</dcterms:modified>
  <cp:category/>
</cp:coreProperties>
</file>