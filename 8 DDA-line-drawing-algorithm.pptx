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70" r:id="rId3"/>
    <p:sldId id="282" r:id="rId4"/>
    <p:sldId id="283" r:id="rId5"/>
    <p:sldId id="284" r:id="rId6"/>
    <p:sldId id="285" r:id="rId7"/>
    <p:sldId id="286" r:id="rId8"/>
    <p:sldId id="288" r:id="rId9"/>
    <p:sldId id="296" r:id="rId10"/>
    <p:sldId id="291" r:id="rId11"/>
    <p:sldId id="290" r:id="rId12"/>
    <p:sldId id="292" r:id="rId13"/>
    <p:sldId id="293" r:id="rId14"/>
    <p:sldId id="294" r:id="rId15"/>
    <p:sldId id="295" r:id="rId16"/>
    <p:sldId id="297" r:id="rId17"/>
    <p:sldId id="279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86380" autoAdjust="0"/>
  </p:normalViewPr>
  <p:slideViewPr>
    <p:cSldViewPr>
      <p:cViewPr varScale="1">
        <p:scale>
          <a:sx n="88" d="100"/>
          <a:sy n="88" d="100"/>
        </p:scale>
        <p:origin x="133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6" y="20510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0"/>
            <a:ext cx="8991600" cy="6858000"/>
          </a:xfrm>
          <a:scene3d>
            <a:camera prst="perspectiveLeft"/>
            <a:lightRig rig="threePt" dir="t"/>
          </a:scene3d>
          <a:sp3d>
            <a:bevelT/>
          </a:sp3d>
        </p:spPr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sz="4800" spc="300" dirty="0" smtClean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914400"/>
            <a:ext cx="8162299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Digital Differential Analyzer (DDA) </a:t>
            </a:r>
          </a:p>
          <a:p>
            <a:pPr algn="ctr"/>
            <a:r>
              <a:rPr lang="en-US" sz="5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LINE DRAWING ALGORITHM</a:t>
            </a:r>
          </a:p>
          <a:p>
            <a:pPr algn="ctr"/>
            <a:r>
              <a:rPr lang="en-US" sz="5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WITH SOLVED EXAMPLES</a:t>
            </a:r>
            <a:endParaRPr lang="en-US" sz="5400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7030A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/>
          <a:lstStyle/>
          <a:p>
            <a:pPr marL="514350" indent="-514350"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line (vector) generation algorithms which determine the pixels that should be turned ON are called as digital differential analyzer (DDA).  </a:t>
            </a:r>
          </a:p>
          <a:p>
            <a:pPr marL="514350" indent="-514350"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one of the technique for obtaining 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rasterized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straight line.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algorithm can be used to draw the line in all the quadrants.</a:t>
            </a:r>
          </a:p>
          <a:p>
            <a:pPr marL="514350" indent="-514350" algn="just"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b="1" dirty="0">
              <a:latin typeface="Times New Roman"/>
              <a:ea typeface="Calibri"/>
            </a:endParaRPr>
          </a:p>
          <a:p>
            <a:pPr algn="just">
              <a:buFont typeface="Wingdings" pitchFamily="2" charset="2"/>
              <a:buChar char="Ø"/>
            </a:pPr>
            <a:endParaRPr lang="en-US" sz="2400" b="1" dirty="0">
              <a:latin typeface="Times New Roman"/>
              <a:ea typeface="Calibri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15962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DDA LINE DRAWING ALGORITHM</a:t>
            </a:r>
            <a:endParaRPr 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DDA ALGORITHM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70000" lnSpcReduction="20000"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>
                <a:latin typeface="Times New Roman"/>
                <a:ea typeface="Times New Roman"/>
                <a:cs typeface="Times New Roman"/>
              </a:rPr>
              <a:t>Assumption: </a:t>
            </a:r>
            <a:endParaRPr lang="en-US" sz="2000" dirty="0">
              <a:ea typeface="Times New Roman"/>
              <a:cs typeface="Times New Roman"/>
            </a:endParaRP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(x1, y1) and (x2, y2) are the two end points of a line and are not equal.</a:t>
            </a:r>
            <a:endParaRPr lang="en-US" sz="2000" dirty="0">
              <a:solidFill>
                <a:srgbClr val="FF0000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Floor integer function is used to convert the real values into integer value.</a:t>
            </a:r>
            <a:endParaRPr lang="en-US" sz="2000" dirty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	e.g.: if value is +8.5 then it is converted to 8 and </a:t>
            </a: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lang="en-IN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if value is -8.5 then it is converted to 9.</a:t>
            </a:r>
            <a:endParaRPr lang="en-US" sz="2000" dirty="0" smtClean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IN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3. Sign function is used which returns +1, 0, -1 for the arguments &gt;0, =0, &lt;0.</a:t>
            </a:r>
            <a:endParaRPr lang="en-US" sz="2000" dirty="0" smtClean="0">
              <a:solidFill>
                <a:srgbClr val="0070C0"/>
              </a:solidFill>
              <a:ea typeface="Times New Roman"/>
              <a:cs typeface="Times New Roman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	e.g.: sign(5) = +1 </a:t>
            </a: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		   sign(0) = 0</a:t>
            </a:r>
            <a:endParaRPr lang="en-US" sz="2000" dirty="0">
              <a:solidFill>
                <a:srgbClr val="0070C0"/>
              </a:solidFill>
              <a:ea typeface="Times New Roman"/>
              <a:cs typeface="Times New Roman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              sign(-10) = -1</a:t>
            </a: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lang="en-IN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	   sign (1) = 1</a:t>
            </a:r>
            <a:endParaRPr lang="en-US" sz="2000" dirty="0">
              <a:solidFill>
                <a:srgbClr val="0070C0"/>
              </a:solidFill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CONTD….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5181600" cy="5334000"/>
          </a:xfrm>
        </p:spPr>
        <p:txBody>
          <a:bodyPr>
            <a:norm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Step 1:</a:t>
            </a:r>
            <a:r>
              <a:rPr lang="en-IN" sz="2600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 Approximate the line length</a:t>
            </a:r>
            <a:endParaRPr lang="en-US" sz="2600" dirty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IN" sz="2600" b="1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f abs(x2-x1)&gt;= abs(y2-y1) then</a:t>
            </a:r>
            <a:endParaRPr lang="en-US" sz="2600" dirty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	length = abs(x2-x1)</a:t>
            </a:r>
            <a:endParaRPr lang="en-US" sz="2600" dirty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else </a:t>
            </a:r>
            <a:endParaRPr lang="en-US" sz="2600" dirty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	length = abs(y2-y1)</a:t>
            </a:r>
            <a:endParaRPr lang="en-US" sz="2600" dirty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end if </a:t>
            </a:r>
            <a:endParaRPr lang="en-US" sz="2600" dirty="0">
              <a:solidFill>
                <a:srgbClr val="00B05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latin typeface="Times New Roman"/>
                <a:ea typeface="Times New Roman"/>
                <a:cs typeface="Times New Roman"/>
              </a:rPr>
              <a:t> </a:t>
            </a:r>
            <a:endParaRPr lang="en-US" sz="2600" dirty="0"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Step 2:</a:t>
            </a:r>
            <a:r>
              <a:rPr lang="en-IN" sz="2600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 Decide increment</a:t>
            </a:r>
            <a:endParaRPr lang="en-US" sz="2600" dirty="0">
              <a:solidFill>
                <a:srgbClr val="0070C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err="1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Δx</a:t>
            </a:r>
            <a:r>
              <a:rPr lang="en-IN" sz="26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 = (x2-x1) / length</a:t>
            </a:r>
            <a:endParaRPr lang="en-US" sz="2600" dirty="0">
              <a:solidFill>
                <a:srgbClr val="0070C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err="1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Δy</a:t>
            </a:r>
            <a:r>
              <a:rPr lang="en-IN" sz="2600" b="1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 = (y2-y1) / length</a:t>
            </a:r>
            <a:endParaRPr lang="en-US" sz="2600" dirty="0">
              <a:solidFill>
                <a:srgbClr val="0070C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dirty="0" smtClean="0">
                <a:latin typeface="Times New Roman"/>
                <a:ea typeface="Times New Roman"/>
                <a:cs typeface="Times New Roman"/>
              </a:rPr>
              <a:t> </a:t>
            </a:r>
            <a:endParaRPr lang="en-US" sz="26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77400" y="871478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X1=0   x2=5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Y1=0   y2=5</a:t>
            </a:r>
          </a:p>
          <a:p>
            <a:r>
              <a:rPr lang="en-US" dirty="0" smtClean="0"/>
              <a:t>Step1=(5-0)&gt;=(5-0)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Length=5</a:t>
            </a:r>
          </a:p>
          <a:p>
            <a:r>
              <a:rPr lang="en-US" dirty="0" smtClean="0"/>
              <a:t>Step 2: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Delx</a:t>
            </a:r>
            <a:r>
              <a:rPr lang="en-US" dirty="0" smtClean="0">
                <a:solidFill>
                  <a:srgbClr val="FF0000"/>
                </a:solidFill>
              </a:rPr>
              <a:t>(5/5)=1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Dely</a:t>
            </a:r>
            <a:r>
              <a:rPr lang="en-US" dirty="0" smtClean="0">
                <a:solidFill>
                  <a:srgbClr val="FF0000"/>
                </a:solidFill>
              </a:rPr>
              <a:t>=1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CONTD….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85000" lnSpcReduction="20000"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Step 3:</a:t>
            </a:r>
            <a:r>
              <a:rPr lang="en-IN" sz="3000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Decide flow (round the values rather than truncate to handle central pixel addressing correctly)</a:t>
            </a:r>
            <a:endParaRPr lang="en-US" sz="3000" dirty="0" smtClean="0">
              <a:solidFill>
                <a:schemeClr val="accent5">
                  <a:lumMod val="75000"/>
                </a:schemeClr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x = x1 + 0.5 * sign(</a:t>
            </a:r>
            <a:r>
              <a:rPr lang="en-IN" sz="3000" b="1" dirty="0" err="1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Δx</a:t>
            </a:r>
            <a:r>
              <a:rPr lang="en-IN" sz="3000" b="1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lang="en-US" sz="3000" dirty="0" smtClean="0">
              <a:solidFill>
                <a:schemeClr val="accent5">
                  <a:lumMod val="75000"/>
                </a:schemeClr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y = y1 + 0.5 * sign(</a:t>
            </a:r>
            <a:r>
              <a:rPr lang="en-IN" sz="3000" b="1" dirty="0" err="1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Δy</a:t>
            </a:r>
            <a:r>
              <a:rPr lang="en-IN" sz="3000" b="1" dirty="0" smtClean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) 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3000" b="1" dirty="0" smtClean="0">
              <a:latin typeface="Times New Roman"/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Step 4:</a:t>
            </a:r>
            <a:r>
              <a:rPr lang="en-IN" sz="3000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Begin main loop</a:t>
            </a:r>
            <a:endParaRPr lang="en-US" sz="3000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IN" sz="3000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IN" sz="3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= 1 </a:t>
            </a:r>
            <a:endParaRPr lang="en-US" sz="3000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   while (</a:t>
            </a:r>
            <a:r>
              <a:rPr lang="en-IN" sz="3000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IN" sz="3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&lt;= length)</a:t>
            </a:r>
            <a:endParaRPr lang="en-US" sz="3000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628650" lvl="1" indent="22860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IN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setpixel</a:t>
            </a: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IN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intger</a:t>
            </a: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x, integer y) </a:t>
            </a:r>
            <a:endParaRPr lang="en-US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400050" lvl="1" indent="45720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x = x + </a:t>
            </a:r>
            <a:r>
              <a:rPr lang="en-IN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Δx</a:t>
            </a: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400050" lvl="1" indent="45720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y = y + </a:t>
            </a:r>
            <a:r>
              <a:rPr lang="en-IN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Δy</a:t>
            </a: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400050" lvl="1" indent="45720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IN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lang="en-IN" b="1" dirty="0" err="1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IN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+ 1</a:t>
            </a:r>
            <a:endParaRPr lang="en-US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 end while</a:t>
            </a:r>
            <a:endParaRPr lang="en-US" sz="3000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finish</a:t>
            </a:r>
            <a:endParaRPr lang="en-US" sz="3000" dirty="0">
              <a:solidFill>
                <a:srgbClr val="C00000"/>
              </a:solidFill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>
              <a:ea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72200" y="1502688"/>
            <a:ext cx="2743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X1=0   x2=5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Y1=0   y2=5</a:t>
            </a:r>
          </a:p>
          <a:p>
            <a:r>
              <a:rPr lang="en-US" dirty="0" smtClean="0"/>
              <a:t>Step1=(5-0)&gt;=(5-0)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Length=5</a:t>
            </a:r>
          </a:p>
          <a:p>
            <a:r>
              <a:rPr lang="en-US" dirty="0" smtClean="0"/>
              <a:t>Step 2: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Delx</a:t>
            </a:r>
            <a:r>
              <a:rPr lang="en-US" dirty="0" smtClean="0">
                <a:solidFill>
                  <a:srgbClr val="FF0000"/>
                </a:solidFill>
              </a:rPr>
              <a:t>(5/5)=1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Dely</a:t>
            </a:r>
            <a:r>
              <a:rPr lang="en-US" dirty="0" smtClean="0">
                <a:solidFill>
                  <a:srgbClr val="FF0000"/>
                </a:solidFill>
              </a:rPr>
              <a:t>=1 </a:t>
            </a:r>
          </a:p>
          <a:p>
            <a:r>
              <a:rPr lang="en-US" dirty="0" smtClean="0"/>
              <a:t>Step 3:</a:t>
            </a:r>
          </a:p>
          <a:p>
            <a:r>
              <a:rPr lang="en-US" dirty="0" smtClean="0"/>
              <a:t>X=0+0.5(sign(</a:t>
            </a:r>
            <a:r>
              <a:rPr lang="en-US" dirty="0" err="1" smtClean="0"/>
              <a:t>delx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=0+0.5*(1)</a:t>
            </a:r>
          </a:p>
          <a:p>
            <a:r>
              <a:rPr lang="en-US" dirty="0"/>
              <a:t> </a:t>
            </a:r>
            <a:r>
              <a:rPr lang="en-US" dirty="0" smtClean="0"/>
              <a:t>  =0.5</a:t>
            </a:r>
          </a:p>
          <a:p>
            <a:r>
              <a:rPr lang="en-US" dirty="0" smtClean="0"/>
              <a:t>y=0+0.5(sign(</a:t>
            </a:r>
            <a:r>
              <a:rPr lang="en-US" dirty="0" err="1" smtClean="0"/>
              <a:t>dely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   =0+0.5*(1)</a:t>
            </a:r>
          </a:p>
          <a:p>
            <a:r>
              <a:rPr lang="en-US" dirty="0"/>
              <a:t>   =0.5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X=0.5 y=0.5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=0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While(1-5)</a:t>
            </a:r>
          </a:p>
          <a:p>
            <a:r>
              <a:rPr lang="en-US" dirty="0" err="1" smtClean="0"/>
              <a:t>Setpixel</a:t>
            </a:r>
            <a:r>
              <a:rPr lang="en-US" dirty="0" smtClean="0"/>
              <a:t>(5.5,5.5)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228600"/>
            <a:ext cx="2286000" cy="609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ASSUMPTION 3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362200" y="838200"/>
            <a:ext cx="228600" cy="1066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867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Q. 1 </a:t>
            </a:r>
            <a:r>
              <a:rPr lang="en-US" dirty="0" err="1" smtClean="0"/>
              <a:t>Rasterize</a:t>
            </a:r>
            <a:r>
              <a:rPr lang="en-US" dirty="0" smtClean="0"/>
              <a:t> the line from (0, 0) to (5,5) using DDA algorithm.</a:t>
            </a:r>
          </a:p>
          <a:p>
            <a:pPr>
              <a:buNone/>
            </a:pPr>
            <a:r>
              <a:rPr lang="en-US" dirty="0" smtClean="0"/>
              <a:t>Solution: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D:\SADIA-DATA\CG notes\CG UNIT 2\DDA example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981200"/>
            <a:ext cx="6781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Solution of Q.1 CONTD….</a:t>
            </a:r>
            <a:endParaRPr lang="en-US" dirty="0"/>
          </a:p>
        </p:txBody>
      </p:sp>
      <p:pic>
        <p:nvPicPr>
          <p:cNvPr id="4" name="Content Placeholder 3" descr="D:\SADIA-DATA\CG notes\CG UNIT 2\DDA example 2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124200" y="1018946"/>
            <a:ext cx="5715000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94211" y="11430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X1=0   x2=5</a:t>
            </a:r>
          </a:p>
          <a:p>
            <a:r>
              <a:rPr lang="en-US" dirty="0">
                <a:solidFill>
                  <a:srgbClr val="FF0000"/>
                </a:solidFill>
              </a:rPr>
              <a:t>Y1=0   y2=5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Length=5</a:t>
            </a:r>
          </a:p>
          <a:p>
            <a:r>
              <a:rPr lang="en-US" dirty="0"/>
              <a:t>Step 2:</a:t>
            </a:r>
          </a:p>
          <a:p>
            <a:r>
              <a:rPr lang="en-US" dirty="0" err="1">
                <a:solidFill>
                  <a:srgbClr val="FF0000"/>
                </a:solidFill>
              </a:rPr>
              <a:t>Delx</a:t>
            </a:r>
            <a:r>
              <a:rPr lang="en-US" dirty="0">
                <a:solidFill>
                  <a:srgbClr val="FF0000"/>
                </a:solidFill>
              </a:rPr>
              <a:t>(5/5)=1</a:t>
            </a:r>
          </a:p>
          <a:p>
            <a:r>
              <a:rPr lang="en-US" dirty="0" err="1">
                <a:solidFill>
                  <a:srgbClr val="FF0000"/>
                </a:solidFill>
              </a:rPr>
              <a:t>Dely</a:t>
            </a:r>
            <a:r>
              <a:rPr lang="en-US" dirty="0">
                <a:solidFill>
                  <a:srgbClr val="FF0000"/>
                </a:solidFill>
              </a:rPr>
              <a:t>=1 </a:t>
            </a:r>
          </a:p>
          <a:p>
            <a:r>
              <a:rPr lang="en-US" dirty="0"/>
              <a:t>Step 3: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X=0.5 </a:t>
            </a:r>
            <a:r>
              <a:rPr lang="en-US" dirty="0">
                <a:solidFill>
                  <a:srgbClr val="FF0000"/>
                </a:solidFill>
              </a:rPr>
              <a:t>y=0.5</a:t>
            </a:r>
          </a:p>
          <a:p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352800" cy="117475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7030A0"/>
                </a:solidFill>
              </a:rPr>
              <a:t>Solution of Q.1 CONTD….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416550" cy="585311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  Result :-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points obtain to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rasterize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 line from (0, 0) to (5, 5) are 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(0, 0)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(1, 1)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(2, 2)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(3, 3)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(4, 4)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" name="Content Placeholder 3" descr="C:\Users\SADIYA\Desktop\unnamed.jp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1219200"/>
            <a:ext cx="5257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7924800" cy="4648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Q2.  Rasterize </a:t>
            </a:r>
            <a:r>
              <a:rPr lang="en-US" dirty="0"/>
              <a:t>the line from </a:t>
            </a:r>
            <a:r>
              <a:rPr lang="en-US" dirty="0" smtClean="0"/>
              <a:t>(1, </a:t>
            </a:r>
            <a:r>
              <a:rPr lang="en-US" dirty="0"/>
              <a:t>0) to (</a:t>
            </a:r>
            <a:r>
              <a:rPr lang="en-US" dirty="0" smtClean="0"/>
              <a:t>5,4) using </a:t>
            </a:r>
            <a:r>
              <a:rPr lang="en-US" dirty="0"/>
              <a:t>DDA algorithm.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8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Question 1, the end points to draw the line  are given directly so, the steps of the algorithm are followed to implement it.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if the end points are not given and instead the equation is given then first we have to find the end points of a line from that equation and then follow the steps of algorithm.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procedure is demonstrated in Q.2 by solving the question asked in university paper.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Q. 2 </a:t>
            </a:r>
            <a:r>
              <a:rPr lang="en-US" dirty="0" err="1" smtClean="0"/>
              <a:t>Rasterize</a:t>
            </a:r>
            <a:r>
              <a:rPr lang="en-US" dirty="0" smtClean="0"/>
              <a:t> the line for the equation </a:t>
            </a:r>
          </a:p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x/2 + y/10 = 1 </a:t>
            </a:r>
            <a:r>
              <a:rPr lang="en-US" dirty="0" smtClean="0"/>
              <a:t>using DDA line algorithm. </a:t>
            </a:r>
          </a:p>
          <a:p>
            <a:pPr>
              <a:buNone/>
            </a:pPr>
            <a:r>
              <a:rPr lang="en-US" dirty="0" smtClean="0"/>
              <a:t>Solution: Given is x/2 + y/10 = 1 --------eq. (1)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00B050"/>
                </a:solidFill>
              </a:rPr>
              <a:t>Put x = 0 in eq. 1 ,   </a:t>
            </a:r>
            <a:r>
              <a:rPr lang="en-US" dirty="0" smtClean="0">
                <a:solidFill>
                  <a:srgbClr val="00B050"/>
                </a:solidFill>
                <a:sym typeface="Wingdings 2"/>
              </a:rPr>
              <a:t>then y = 10</a:t>
            </a:r>
          </a:p>
          <a:p>
            <a:pPr>
              <a:buNone/>
            </a:pPr>
            <a:r>
              <a:rPr lang="en-US" dirty="0" smtClean="0">
                <a:sym typeface="Wingdings 2"/>
              </a:rPr>
              <a:t>	the 1</a:t>
            </a:r>
            <a:r>
              <a:rPr lang="en-US" baseline="30000" dirty="0" smtClean="0">
                <a:sym typeface="Wingdings 2"/>
              </a:rPr>
              <a:t>st</a:t>
            </a:r>
            <a:r>
              <a:rPr lang="en-US" dirty="0" smtClean="0">
                <a:sym typeface="Wingdings 2"/>
              </a:rPr>
              <a:t> end point (x1,y1) is (0,10)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00B0F0"/>
                </a:solidFill>
              </a:rPr>
              <a:t>Put y = 0 in eq. 1 ,   </a:t>
            </a:r>
            <a:r>
              <a:rPr lang="en-US" dirty="0" smtClean="0">
                <a:solidFill>
                  <a:srgbClr val="00B0F0"/>
                </a:solidFill>
                <a:sym typeface="Wingdings 2"/>
              </a:rPr>
              <a:t>then x = 2</a:t>
            </a:r>
          </a:p>
          <a:p>
            <a:pPr>
              <a:buNone/>
            </a:pPr>
            <a:r>
              <a:rPr lang="en-US" dirty="0" smtClean="0">
                <a:sym typeface="Wingdings 2"/>
              </a:rPr>
              <a:t>	 the 2</a:t>
            </a:r>
            <a:r>
              <a:rPr lang="en-US" baseline="30000" dirty="0" smtClean="0">
                <a:sym typeface="Wingdings 2"/>
              </a:rPr>
              <a:t>nd</a:t>
            </a:r>
            <a:r>
              <a:rPr lang="en-US" dirty="0" smtClean="0">
                <a:sym typeface="Wingdings 2"/>
              </a:rPr>
              <a:t> end point (x2,y2) is (2,0)</a:t>
            </a:r>
          </a:p>
          <a:p>
            <a:pPr>
              <a:buNone/>
            </a:pPr>
            <a:r>
              <a:rPr lang="en-US" dirty="0" smtClean="0">
                <a:sym typeface="Wingdings 2"/>
              </a:rPr>
              <a:t>Here, </a:t>
            </a:r>
          </a:p>
          <a:p>
            <a:pPr>
              <a:buNone/>
            </a:pPr>
            <a:r>
              <a:rPr lang="en-US" u="sng" dirty="0" smtClean="0">
                <a:sym typeface="Wingdings 2"/>
              </a:rPr>
              <a:t>x1=0  ,   y1=10   </a:t>
            </a:r>
            <a:r>
              <a:rPr lang="en-US" dirty="0" smtClean="0">
                <a:sym typeface="Wingdings 2"/>
              </a:rPr>
              <a:t>,     </a:t>
            </a:r>
            <a:r>
              <a:rPr lang="en-US" u="sng" dirty="0" smtClean="0">
                <a:sym typeface="Wingdings 2"/>
              </a:rPr>
              <a:t>x2=2    ,  y2=0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2" name="Curved Right Arrow 1"/>
          <p:cNvSpPr/>
          <p:nvPr/>
        </p:nvSpPr>
        <p:spPr>
          <a:xfrm>
            <a:off x="1066800" y="2057400"/>
            <a:ext cx="762000" cy="32004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urved Left Arrow 3"/>
          <p:cNvSpPr/>
          <p:nvPr/>
        </p:nvSpPr>
        <p:spPr>
          <a:xfrm>
            <a:off x="7239000" y="3581400"/>
            <a:ext cx="1295400" cy="2057400"/>
          </a:xfrm>
          <a:prstGeom prst="curvedLeftArrow">
            <a:avLst>
              <a:gd name="adj1" fmla="val 25000"/>
              <a:gd name="adj2" fmla="val 50000"/>
              <a:gd name="adj3" fmla="val 371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</a:rPr>
              <a:t>Solution of Q.2 CONTD….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 smtClean="0">
                <a:latin typeface="Times New Roman"/>
                <a:ea typeface="Times New Roman"/>
                <a:cs typeface="Times New Roman"/>
              </a:rPr>
              <a:t>Step 1: </a:t>
            </a:r>
            <a:r>
              <a:rPr lang="en-IN" dirty="0" smtClean="0">
                <a:latin typeface="Times New Roman"/>
                <a:ea typeface="Times New Roman"/>
                <a:cs typeface="Times New Roman"/>
              </a:rPr>
              <a:t>abs(x2-x1) = abs(2-0) = 2</a:t>
            </a:r>
          </a:p>
          <a:p>
            <a:pPr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             abs(y2-y1) = abs(0-10) = 10</a:t>
            </a:r>
          </a:p>
          <a:p>
            <a:pPr>
              <a:buNone/>
            </a:pPr>
            <a:r>
              <a:rPr lang="en-IN" dirty="0" smtClean="0">
                <a:latin typeface="Times New Roman"/>
                <a:cs typeface="Times New Roman"/>
              </a:rPr>
              <a:t>Here, abs (y2-y1)&gt; abs(x2-x1) </a:t>
            </a:r>
          </a:p>
          <a:p>
            <a:pPr>
              <a:buNone/>
            </a:pPr>
            <a:r>
              <a:rPr lang="en-US" dirty="0" smtClean="0">
                <a:sym typeface="Wingdings 2"/>
              </a:rPr>
              <a:t>			length =10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latin typeface="Times New Roman"/>
                <a:ea typeface="Times New Roman"/>
                <a:cs typeface="Times New Roman"/>
              </a:rPr>
              <a:t>Step 2: </a:t>
            </a:r>
            <a:r>
              <a:rPr lang="en-IN" dirty="0" err="1" smtClean="0">
                <a:latin typeface="Times New Roman"/>
                <a:ea typeface="Times New Roman"/>
                <a:cs typeface="Times New Roman"/>
              </a:rPr>
              <a:t>Δx</a:t>
            </a:r>
            <a:r>
              <a:rPr lang="en-IN" dirty="0" smtClean="0">
                <a:latin typeface="Times New Roman"/>
                <a:ea typeface="Times New Roman"/>
                <a:cs typeface="Times New Roman"/>
              </a:rPr>
              <a:t> = (x2-x1) / length = (2-0)/10 = 0.2</a:t>
            </a:r>
            <a:endParaRPr lang="en-US" dirty="0" smtClean="0"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            </a:t>
            </a:r>
            <a:r>
              <a:rPr lang="en-IN" dirty="0" err="1" smtClean="0">
                <a:latin typeface="Times New Roman"/>
                <a:ea typeface="Times New Roman"/>
                <a:cs typeface="Times New Roman"/>
              </a:rPr>
              <a:t>Δy</a:t>
            </a:r>
            <a:r>
              <a:rPr lang="en-IN" dirty="0" smtClean="0">
                <a:latin typeface="Times New Roman"/>
                <a:ea typeface="Times New Roman"/>
                <a:cs typeface="Times New Roman"/>
              </a:rPr>
              <a:t> = (y2-y1) / length = (0-10)/10 = -1</a:t>
            </a:r>
            <a:endParaRPr lang="en-US" dirty="0" smtClean="0">
              <a:ea typeface="Times New Roman"/>
              <a:cs typeface="Times New Roman"/>
            </a:endParaRPr>
          </a:p>
          <a:p>
            <a:pPr>
              <a:buNone/>
            </a:pPr>
            <a:endParaRPr lang="en-US" b="1" dirty="0" smtClean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</a:rPr>
              <a:t>Solution of Q.2 CONTD….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>
                <a:latin typeface="Times New Roman"/>
                <a:ea typeface="Times New Roman"/>
                <a:cs typeface="Times New Roman"/>
              </a:rPr>
              <a:t>Step 3:  </a:t>
            </a:r>
            <a:r>
              <a:rPr lang="en-IN" dirty="0" smtClean="0">
                <a:latin typeface="Times New Roman"/>
                <a:ea typeface="Times New Roman"/>
                <a:cs typeface="Times New Roman"/>
              </a:rPr>
              <a:t>x = x1 + 0.5 * sign(</a:t>
            </a:r>
            <a:r>
              <a:rPr lang="en-IN" dirty="0" err="1" smtClean="0">
                <a:latin typeface="Times New Roman"/>
                <a:ea typeface="Times New Roman"/>
                <a:cs typeface="Times New Roman"/>
              </a:rPr>
              <a:t>Δx</a:t>
            </a:r>
            <a:r>
              <a:rPr lang="en-IN" dirty="0" smtClean="0">
                <a:latin typeface="Times New Roman"/>
                <a:ea typeface="Times New Roman"/>
                <a:cs typeface="Times New Roman"/>
              </a:rPr>
              <a:t>)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              x  = 0 + 0.5 * sign (0.2)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	     x  = 0 + 0.5 * 1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	 </a:t>
            </a:r>
            <a:r>
              <a:rPr lang="en-US" dirty="0" smtClean="0">
                <a:sym typeface="Wingdings 2"/>
              </a:rPr>
              <a:t></a:t>
            </a:r>
            <a:r>
              <a:rPr lang="en-IN" dirty="0" smtClean="0">
                <a:latin typeface="Times New Roman"/>
                <a:ea typeface="Times New Roman"/>
                <a:cs typeface="Times New Roman"/>
              </a:rPr>
              <a:t> x = 0.5</a:t>
            </a:r>
            <a:endParaRPr lang="en-US" dirty="0" smtClean="0">
              <a:ea typeface="Times New Roman"/>
              <a:cs typeface="Times New Roman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>
                <a:latin typeface="Times New Roman"/>
                <a:ea typeface="Times New Roman"/>
                <a:cs typeface="Times New Roman"/>
              </a:rPr>
              <a:t>             y = y1 + 0.5 * sign(</a:t>
            </a:r>
            <a:r>
              <a:rPr lang="en-IN" b="1" dirty="0" err="1" smtClean="0">
                <a:latin typeface="Times New Roman"/>
                <a:ea typeface="Times New Roman"/>
                <a:cs typeface="Times New Roman"/>
              </a:rPr>
              <a:t>Δy</a:t>
            </a:r>
            <a:r>
              <a:rPr lang="en-IN" b="1" dirty="0" smtClean="0">
                <a:latin typeface="Times New Roman"/>
                <a:ea typeface="Times New Roman"/>
                <a:cs typeface="Times New Roman"/>
              </a:rPr>
              <a:t>) 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	    y  = 10 + 0.5 * sign (-1)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	    y  = 10 + 0.5 * -1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</a:rPr>
              <a:t>	</a:t>
            </a:r>
            <a:r>
              <a:rPr lang="en-US" dirty="0" smtClean="0">
                <a:sym typeface="Wingdings 2"/>
              </a:rPr>
              <a:t> </a:t>
            </a:r>
            <a:r>
              <a:rPr lang="en-IN" dirty="0" smtClean="0">
                <a:latin typeface="Times New Roman"/>
                <a:ea typeface="Times New Roman"/>
                <a:cs typeface="Times New Roman"/>
              </a:rPr>
              <a:t> x = 9.5</a:t>
            </a:r>
            <a:endParaRPr lang="en-US" dirty="0" smtClean="0">
              <a:ea typeface="Times New Roman"/>
              <a:cs typeface="Times New Roman"/>
            </a:endParaRPr>
          </a:p>
          <a:p>
            <a:pPr>
              <a:buNone/>
            </a:pPr>
            <a:endParaRPr lang="en-US" b="1" dirty="0" smtClean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Solution of Q.2 CONTD….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671329"/>
              </p:ext>
            </p:extLst>
          </p:nvPr>
        </p:nvGraphicFramePr>
        <p:xfrm>
          <a:off x="2209800" y="1143000"/>
          <a:ext cx="6172200" cy="5257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Set</a:t>
                      </a:r>
                      <a:r>
                        <a:rPr lang="en-US" baseline="0" dirty="0" smtClean="0"/>
                        <a:t> pixel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(0,9)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9.5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(0,8)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0.7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8.5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(0,7)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0.9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7.5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latin typeface="Times New Roman" pitchFamily="18" charset="0"/>
                          <a:cs typeface="Times New Roman" pitchFamily="18" charset="0"/>
                        </a:rPr>
                        <a:t>(0,6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(1,5)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1.3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(1,4)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(1,3)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1.7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(1,2)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1.9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(2,1)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(2,0)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2.3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END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-0.5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304800" y="762000"/>
            <a:ext cx="1752600" cy="1249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Step 4: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352800" cy="117475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7030A0"/>
                </a:solidFill>
              </a:rPr>
              <a:t>Solution of Q.2 CONTD….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450" y="381000"/>
            <a:ext cx="5416550" cy="608171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  Result :-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2590800" cy="51181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points obtain to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rasterize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a line for the equation </a:t>
            </a:r>
          </a:p>
          <a:p>
            <a:pPr algn="just"/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x/2 + y/10 = 1 are : </a:t>
            </a:r>
          </a:p>
          <a:p>
            <a:pPr fontAlgn="t"/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(0,9)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(0,8)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(0,7)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(1,6)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(1,5)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(1,4)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(1,3)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(1,2)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(2,1)</a:t>
            </a:r>
          </a:p>
          <a:p>
            <a:pPr fontAlgn="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(2,0)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7" name="Content Placeholder 6"/>
          <p:cNvGraphicFramePr>
            <a:graphicFrameLocks/>
          </p:cNvGraphicFramePr>
          <p:nvPr/>
        </p:nvGraphicFramePr>
        <p:xfrm>
          <a:off x="4114800" y="1219200"/>
          <a:ext cx="4191000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rot="5400000" flipH="1" flipV="1">
            <a:off x="1448197" y="3657203"/>
            <a:ext cx="533320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962400" y="5943600"/>
            <a:ext cx="5029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33800" y="5943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565650" y="6096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775450" y="6096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461250" y="6096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8147050" y="6096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251450" y="6096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013450" y="6096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733800" y="4343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733800" y="5334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733800" y="4800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733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733800" y="3429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733800" y="29718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4724400" y="30480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038600" y="16002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733800" y="2514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733800" y="2057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733800" y="1600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3657600" y="11430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5486400" y="58674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486400" y="54102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4724400" y="39624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724400" y="44196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4724400" y="48768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4724400" y="35052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038600" y="20574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038600" y="25908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077200" cy="116205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Another Task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153400" cy="4525963"/>
          </a:xfrm>
        </p:spPr>
        <p:txBody>
          <a:bodyPr>
            <a:normAutofit/>
          </a:bodyPr>
          <a:lstStyle/>
          <a:p>
            <a:pPr algn="just"/>
            <a:r>
              <a:rPr lang="en-US" sz="4400" dirty="0" smtClean="0"/>
              <a:t>Apply DDA algorithm on the following equation:</a:t>
            </a:r>
          </a:p>
          <a:p>
            <a:pPr algn="just"/>
            <a:r>
              <a:rPr lang="en-US" sz="4400" dirty="0" smtClean="0"/>
              <a:t>5x/7 + 18y/7 = </a:t>
            </a:r>
            <a:r>
              <a:rPr lang="en-US" sz="4400" dirty="0" smtClean="0"/>
              <a:t>1</a:t>
            </a:r>
          </a:p>
          <a:p>
            <a:pPr algn="just"/>
            <a:r>
              <a:rPr lang="en-US" sz="4400" dirty="0" smtClean="0"/>
              <a:t>X=0 y=? (x1,y1)</a:t>
            </a:r>
          </a:p>
          <a:p>
            <a:pPr algn="just"/>
            <a:r>
              <a:rPr lang="en-US" sz="4400" dirty="0" smtClean="0"/>
              <a:t>Y=0,x=?</a:t>
            </a:r>
            <a:r>
              <a:rPr lang="en-US" sz="4400" dirty="0"/>
              <a:t> </a:t>
            </a:r>
            <a:r>
              <a:rPr lang="en-US" sz="4400" dirty="0" smtClean="0"/>
              <a:t>(x2,y2)</a:t>
            </a:r>
            <a:endParaRPr lang="en-US" sz="4400" dirty="0" smtClean="0"/>
          </a:p>
        </p:txBody>
      </p:sp>
    </p:spTree>
    <p:extLst>
      <p:ext uri="{BB962C8B-B14F-4D97-AF65-F5344CB8AC3E}">
        <p14:creationId xmlns:p14="http://schemas.microsoft.com/office/powerpoint/2010/main" val="403779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991600" cy="868362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Advantages </a:t>
            </a:r>
            <a:r>
              <a:rPr lang="en-US" dirty="0">
                <a:solidFill>
                  <a:srgbClr val="7030A0"/>
                </a:solidFill>
              </a:rPr>
              <a:t>and Disadvantages of DDA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pPr marL="514350" indent="-514350"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Advantages : </a:t>
            </a:r>
          </a:p>
          <a:p>
            <a:pPr marL="914400" lvl="2" indent="-51435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Simplest line drawing algorithm</a:t>
            </a:r>
          </a:p>
          <a:p>
            <a:pPr marL="914400" lvl="2" indent="-51435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 special skills required for its implementation</a:t>
            </a:r>
          </a:p>
          <a:p>
            <a:pPr marL="914400" lvl="2" indent="-51435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DDA draws the line faster than drawing the line by directly using the line equation. </a:t>
            </a:r>
          </a:p>
          <a:p>
            <a:pPr marL="514350" indent="-514350"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Disadvantages : </a:t>
            </a:r>
          </a:p>
          <a:p>
            <a:pPr marL="914400" lvl="2" indent="-514350" algn="just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dependents on orientation which makes the end point accuracy poor.</a:t>
            </a:r>
          </a:p>
          <a:p>
            <a:pPr marL="914400" lvl="2" indent="-514350" algn="just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requires floating point addition to determine each successive point which is time consuming.</a:t>
            </a:r>
          </a:p>
          <a:p>
            <a:pPr marL="914400" lvl="2" indent="-514350" algn="just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Error due to limited precision in floating point representation may cause calculated points to shift away from their actual position when the line is relatively long.</a:t>
            </a:r>
          </a:p>
          <a:p>
            <a:pPr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828800"/>
            <a:ext cx="73914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7030A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THANK YOU</a:t>
            </a:r>
            <a:endParaRPr lang="en-US" sz="8000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7030A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</TotalTime>
  <Words>836</Words>
  <Application>Microsoft Office PowerPoint</Application>
  <PresentationFormat>On-screen Show (4:3)</PresentationFormat>
  <Paragraphs>225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Wingdings 2</vt:lpstr>
      <vt:lpstr>Office Theme</vt:lpstr>
      <vt:lpstr>PowerPoint Presentation</vt:lpstr>
      <vt:lpstr>DDA LINE DRAWING ALGORITHM</vt:lpstr>
      <vt:lpstr>DDA ALGORITHM</vt:lpstr>
      <vt:lpstr>CONTD….</vt:lpstr>
      <vt:lpstr>CONTD….</vt:lpstr>
      <vt:lpstr>Examples</vt:lpstr>
      <vt:lpstr>Solution of Q.1 CONTD….</vt:lpstr>
      <vt:lpstr>Solution of Q.1 CONTD….</vt:lpstr>
      <vt:lpstr>PowerPoint Presentation</vt:lpstr>
      <vt:lpstr>Note</vt:lpstr>
      <vt:lpstr>PowerPoint Presentation</vt:lpstr>
      <vt:lpstr>Solution of Q.2 CONTD….</vt:lpstr>
      <vt:lpstr>Solution of Q.2 CONTD….</vt:lpstr>
      <vt:lpstr>Solution of Q.2 CONTD….</vt:lpstr>
      <vt:lpstr>Solution of Q.2 CONTD….</vt:lpstr>
      <vt:lpstr>Another Task </vt:lpstr>
      <vt:lpstr>Advantages and Disadvantages of DDA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Prof. SadiyaPatka</dc:creator>
  <cp:lastModifiedBy>Sabina</cp:lastModifiedBy>
  <cp:revision>258</cp:revision>
  <dcterms:created xsi:type="dcterms:W3CDTF">2006-08-16T00:00:00Z</dcterms:created>
  <dcterms:modified xsi:type="dcterms:W3CDTF">2026-03-25T07:26:03Z</dcterms:modified>
</cp:coreProperties>
</file>